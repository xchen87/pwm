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Personal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AI that understands your life—not just your prompts.</a:t>
            </a:r>
          </a:p>
          <a:p>
            <a:pPr>
              <a:spcAft>
                <a:spcPts val="1400"/>
              </a:spcAft>
              <a:defRPr sz="2000"/>
            </a:pPr>
            <a:r>
              <a:t>One world model. Infinite personal agents.</a:t>
            </a:r>
          </a:p>
          <a:p>
            <a:pPr>
              <a:spcAft>
                <a:spcPts val="1400"/>
              </a:spcAft>
              <a:defRPr sz="2000"/>
            </a:pPr>
            <a:r>
              <a:t>Investor + co-founder concept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Your life is spread across email, calendar, messages, receipts, documents, notes and memory.</a:t>
            </a:r>
          </a:p>
          <a:p>
            <a:pPr>
              <a:spcAft>
                <a:spcPts val="1400"/>
              </a:spcAft>
              <a:defRPr sz="2000"/>
            </a:pPr>
            <a:r>
              <a:t>People repeatedly search, remember, coordinate and follow up manually.</a:t>
            </a:r>
          </a:p>
          <a:p>
            <a:pPr>
              <a:spcAft>
                <a:spcPts val="1400"/>
              </a:spcAft>
              <a:defRPr sz="2000"/>
            </a:pPr>
            <a:r>
              <a:t>Today's AI can answer questions, but a person’s world is rarely represented as a durable, temporal system of record.</a:t>
            </a:r>
          </a:p>
          <a:p>
            <a:pPr>
              <a:spcAft>
                <a:spcPts val="1400"/>
              </a:spcAft>
              <a:defRPr sz="2000"/>
            </a:pPr>
            <a:r>
              <a:t>The result: high cognitive load and important things falling through the cracks.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market is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Life-admin apps manage tasks.</a:t>
            </a:r>
          </a:p>
          <a:p>
            <a:pPr>
              <a:spcAft>
                <a:spcPts val="1400"/>
              </a:spcAft>
              <a:defRPr sz="2000"/>
            </a:pPr>
            <a:r>
              <a:t>Second-brain products manage knowledge.</a:t>
            </a:r>
          </a:p>
          <a:p>
            <a:pPr>
              <a:spcAft>
                <a:spcPts val="1400"/>
              </a:spcAft>
              <a:defRPr sz="2000"/>
            </a:pPr>
            <a:r>
              <a:t>Personal CRMs manage relationships.</a:t>
            </a:r>
          </a:p>
          <a:p>
            <a:pPr>
              <a:spcAft>
                <a:spcPts val="1400"/>
              </a:spcAft>
              <a:defRPr sz="2000"/>
            </a:pPr>
            <a:r>
              <a:t>Home/ownership apps manage possessions.</a:t>
            </a:r>
          </a:p>
          <a:p>
            <a:pPr>
              <a:spcAft>
                <a:spcPts val="1400"/>
              </a:spcAft>
              <a:defRPr sz="2000"/>
            </a:pPr>
            <a:r>
              <a:t>General AI assistants increasingly execute tasks.</a:t>
            </a:r>
          </a:p>
          <a:p>
            <a:pPr>
              <a:spcAft>
                <a:spcPts val="1400"/>
              </a:spcAft>
              <a:defRPr sz="2000"/>
            </a:pPr>
            <a:r>
              <a:t>The missing layer: a persistent model that connects all of these dimensions around one person.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t>Build a Personal World Model: a user-controlled representation of people, relationships, things, commitments, decisions, priorities, events and history.</a:t>
            </a:r>
          </a:p>
          <a:p>
            <a:pPr>
              <a:spcAft>
                <a:spcPts val="1400"/>
              </a:spcAft>
              <a:defRPr sz="2000"/>
            </a:pPr>
            <a:r>
              <a:t>The model is the durable substrate.</a:t>
            </a:r>
          </a:p>
          <a:p>
            <a:pPr>
              <a:spcAft>
                <a:spcPts val="1400"/>
              </a:spcAft>
              <a:defRPr sz="2000"/>
            </a:pPr>
            <a:r>
              <a:t>Specialized agents reason over and act on the same substrate.</a:t>
            </a:r>
          </a:p>
          <a:p>
            <a:pPr>
              <a:spcAft>
                <a:spcPts val="1400"/>
              </a:spcAft>
              <a:defRPr sz="2000"/>
            </a:pPr>
            <a:r>
              <a:t>The product gets more useful as the model becomes richer.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Foundation models make unstructured personal data increasingly understandable.</a:t>
            </a:r>
          </a:p>
          <a:p>
            <a:pPr>
              <a:spcAft>
                <a:spcPts val="1400"/>
              </a:spcAft>
              <a:defRPr sz="2000"/>
            </a:pPr>
            <a:r>
              <a:t>Agent runtimes can move from answering to preparing and executing actions.</a:t>
            </a:r>
          </a:p>
          <a:p>
            <a:pPr>
              <a:spcAft>
                <a:spcPts val="1400"/>
              </a:spcAft>
              <a:defRPr sz="2000"/>
            </a:pPr>
            <a:r>
              <a:t>Email/calendar/document integrations expose rich personal context.</a:t>
            </a:r>
          </a:p>
          <a:p>
            <a:pPr>
              <a:spcAft>
                <a:spcPts val="1400"/>
              </a:spcAft>
              <a:defRPr sz="2000"/>
            </a:pPr>
            <a:r>
              <a:t>Consumer expectations are shifting from chat toward proactive assistance.</a:t>
            </a:r>
          </a:p>
          <a:p>
            <a:pPr>
              <a:spcAft>
                <a:spcPts val="1400"/>
              </a:spcAft>
              <a:defRPr sz="2000"/>
            </a:pPr>
            <a:r>
              <a:t>Trust, provenance and user-controlled permissions remain open product problems.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YOUR WORLD</a:t>
            </a:r>
          </a:p>
          <a:p>
            <a:pPr>
              <a:spcAft>
                <a:spcPts val="1400"/>
              </a:spcAft>
              <a:defRPr sz="2000"/>
            </a:pPr>
            <a:r>
              <a:t>What changed? — meaningful changes since your last visit.</a:t>
            </a:r>
          </a:p>
          <a:p>
            <a:pPr>
              <a:spcAft>
                <a:spcPts val="1400"/>
              </a:spcAft>
              <a:defRPr sz="2000"/>
            </a:pPr>
            <a:r>
              <a:t>Needs attention — commitments, deadlines and anomalies.</a:t>
            </a:r>
          </a:p>
          <a:p>
            <a:pPr>
              <a:spcAft>
                <a:spcPts val="1400"/>
              </a:spcAft>
              <a:defRPr sz="2000"/>
            </a:pPr>
            <a:r>
              <a:t>Remembered — confirmed decisions, preferences and important facts.</a:t>
            </a:r>
          </a:p>
          <a:p>
            <a:pPr>
              <a:spcAft>
                <a:spcPts val="1400"/>
              </a:spcAft>
              <a:defRPr sz="2000"/>
            </a:pPr>
            <a:r>
              <a:t>Ask your world — natural-language access to your personal context.</a:t>
            </a:r>
          </a:p>
          <a:p>
            <a:pPr>
              <a:spcAft>
                <a:spcPts val="1400"/>
              </a:spcAft>
              <a:defRPr sz="2000"/>
            </a:pPr>
            <a:r>
              <a:t>Every important claim can show its source and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Personal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People → relationships → interactions</a:t>
            </a:r>
          </a:p>
          <a:p>
            <a:pPr>
              <a:spcAft>
                <a:spcPts val="1400"/>
              </a:spcAft>
              <a:defRPr sz="2000"/>
            </a:pPr>
            <a:r>
              <a:t>Things → ownership → purchase → warranty → lifecycle</a:t>
            </a:r>
          </a:p>
          <a:p>
            <a:pPr>
              <a:spcAft>
                <a:spcPts val="1400"/>
              </a:spcAft>
              <a:defRPr sz="2000"/>
            </a:pPr>
            <a:r>
              <a:t>Commitments → deadlines → status → dependencies</a:t>
            </a:r>
          </a:p>
          <a:p>
            <a:pPr>
              <a:spcAft>
                <a:spcPts val="1400"/>
              </a:spcAft>
              <a:defRPr sz="2000"/>
            </a:pPr>
            <a:r>
              <a:t>Decisions → rationale → assumptions → outcomes</a:t>
            </a:r>
          </a:p>
          <a:p>
            <a:pPr>
              <a:spcAft>
                <a:spcPts val="1400"/>
              </a:spcAft>
              <a:defRPr sz="2000"/>
            </a:pPr>
            <a:r>
              <a:t>Priorities → goals → constraints</a:t>
            </a:r>
          </a:p>
          <a:p>
            <a:pPr>
              <a:spcAft>
                <a:spcPts val="1400"/>
              </a:spcAft>
              <a:defRPr sz="2000"/>
            </a:pPr>
            <a:r>
              <a:t>Events → time → participants → consequences</a:t>
            </a:r>
          </a:p>
          <a:p>
            <a:pPr>
              <a:spcAft>
                <a:spcPts val="1400"/>
              </a:spcAft>
              <a:defRPr sz="2000"/>
            </a:pPr>
            <a:r>
              <a:t>All entities are temporal and source-grounded.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agent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Life Radar — catch things before they become problems.</a:t>
            </a:r>
          </a:p>
          <a:p>
            <a:pPr>
              <a:spcAft>
                <a:spcPts val="1400"/>
              </a:spcAft>
              <a:defRPr sz="2000"/>
            </a:pPr>
            <a:r>
              <a:t>Customer Advocate — prepare disputes, refund and warranty actions.</a:t>
            </a:r>
          </a:p>
          <a:p>
            <a:pPr>
              <a:spcAft>
                <a:spcPts val="1400"/>
              </a:spcAft>
              <a:defRPr sz="2000"/>
            </a:pPr>
            <a:r>
              <a:t>Ownership — track everything you own.</a:t>
            </a:r>
          </a:p>
          <a:p>
            <a:pPr>
              <a:spcAft>
                <a:spcPts val="1400"/>
              </a:spcAft>
              <a:defRPr sz="2000"/>
            </a:pPr>
            <a:r>
              <a:t>Relationship — remember and nurture important relationships.</a:t>
            </a:r>
          </a:p>
          <a:p>
            <a:pPr>
              <a:spcAft>
                <a:spcPts val="1400"/>
              </a:spcAft>
              <a:defRPr sz="2000"/>
            </a:pPr>
            <a:r>
              <a:t>Decision — remember what you decided and why.</a:t>
            </a:r>
          </a:p>
          <a:p>
            <a:pPr>
              <a:spcAft>
                <a:spcPts val="1400"/>
              </a:spcAft>
              <a:defRPr sz="2000"/>
            </a:pPr>
            <a:r>
              <a:t>Family / Financial / other agents follow from the same substrate.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Not the LLM.</a:t>
            </a:r>
          </a:p>
          <a:p>
            <a:pPr>
              <a:spcAft>
                <a:spcPts val="1400"/>
              </a:spcAft>
              <a:defRPr sz="2000"/>
            </a:pPr>
            <a:r>
              <a:t>A durable, temporal personal graph.</a:t>
            </a:r>
          </a:p>
          <a:p>
            <a:pPr>
              <a:spcAft>
                <a:spcPts val="1400"/>
              </a:spcAft>
              <a:defRPr sz="2000"/>
            </a:pPr>
            <a:r>
              <a:t>User-specific preferences and priorities.</a:t>
            </a:r>
          </a:p>
          <a:p>
            <a:pPr>
              <a:spcAft>
                <a:spcPts val="1400"/>
              </a:spcAft>
              <a:defRPr sz="2000"/>
            </a:pPr>
            <a:r>
              <a:t>Decision history and outcomes.</a:t>
            </a:r>
          </a:p>
          <a:p>
            <a:pPr>
              <a:spcAft>
                <a:spcPts val="1400"/>
              </a:spcAft>
              <a:defRPr sz="2000"/>
            </a:pPr>
            <a:r>
              <a:t>Action history and permission scopes.</a:t>
            </a:r>
          </a:p>
          <a:p>
            <a:pPr>
              <a:spcAft>
                <a:spcPts val="1400"/>
              </a:spcAft>
              <a:defRPr sz="2000"/>
            </a:pPr>
            <a:r>
              <a:t>Provenance and trust.</a:t>
            </a:r>
          </a:p>
          <a:p>
            <a:pPr>
              <a:spcAft>
                <a:spcPts val="1400"/>
              </a:spcAft>
              <a:defRPr sz="2000"/>
            </a:pPr>
            <a:r>
              <a:t>Years of accumulated context create switching cost and agent capability.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Trust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Observe → explain what was detected.</a:t>
            </a:r>
          </a:p>
          <a:p>
            <a:pPr>
              <a:spcAft>
                <a:spcPts val="1400"/>
              </a:spcAft>
              <a:defRPr sz="2000"/>
            </a:pPr>
            <a:r>
              <a:t>Prepare → draft an action for approval.</a:t>
            </a:r>
          </a:p>
          <a:p>
            <a:pPr>
              <a:spcAft>
                <a:spcPts val="1400"/>
              </a:spcAft>
              <a:defRPr sz="2000"/>
            </a:pPr>
            <a:r>
              <a:t>Act → only within explicit user-granted scope.</a:t>
            </a:r>
          </a:p>
          <a:p>
            <a:pPr>
              <a:spcAft>
                <a:spcPts val="1400"/>
              </a:spcAft>
              <a:defRPr sz="2000"/>
            </a:pPr>
            <a:r>
              <a:t>Confirmed, inferred and uncertain facts are distinct.</a:t>
            </a:r>
          </a:p>
          <a:p>
            <a:pPr>
              <a:spcAft>
                <a:spcPts val="1400"/>
              </a:spcAft>
              <a:defRPr sz="2000"/>
            </a:pPr>
            <a:r>
              <a:t>Important claims retain provenance.</a:t>
            </a:r>
          </a:p>
          <a:p>
            <a:pPr>
              <a:spcAft>
                <a:spcPts val="1400"/>
              </a:spcAft>
              <a:defRPr sz="2000"/>
            </a:pPr>
            <a:r>
              <a:t>User can correct, revoke, export and delete.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Gmail read-only + Google Calendar read-only + explicit user capture.</a:t>
            </a:r>
          </a:p>
          <a:p>
            <a:pPr>
              <a:spcAft>
                <a:spcPts val="1400"/>
              </a:spcAft>
              <a:defRPr sz="2000"/>
            </a:pPr>
            <a:r>
              <a:t>Canonical world model and provenance layer.</a:t>
            </a:r>
          </a:p>
          <a:p>
            <a:pPr>
              <a:spcAft>
                <a:spcPts val="1400"/>
              </a:spcAft>
              <a:defRPr sz="2000"/>
            </a:pPr>
            <a:r>
              <a:t>Your World + World Brief.</a:t>
            </a:r>
          </a:p>
          <a:p>
            <a:pPr>
              <a:spcAft>
                <a:spcPts val="1400"/>
              </a:spcAft>
              <a:defRPr sz="2000"/>
            </a:pPr>
            <a:r>
              <a:t>Ask Your World.</a:t>
            </a:r>
          </a:p>
          <a:p>
            <a:pPr>
              <a:spcAft>
                <a:spcPts val="1400"/>
              </a:spcAft>
              <a:defRPr sz="2000"/>
            </a:pPr>
            <a:r>
              <a:t>Memory / correction.</a:t>
            </a:r>
          </a:p>
          <a:p>
            <a:pPr>
              <a:spcAft>
                <a:spcPts val="1400"/>
              </a:spcAft>
              <a:defRPr sz="2000"/>
            </a:pPr>
            <a:r>
              <a:t>Commitment Radar.</a:t>
            </a:r>
          </a:p>
          <a:p>
            <a:pPr>
              <a:spcAft>
                <a:spcPts val="1400"/>
              </a:spcAft>
              <a:defRPr sz="2000"/>
            </a:pPr>
            <a:r>
              <a:t>Decision Memory.</a:t>
            </a:r>
          </a:p>
          <a:p>
            <a:pPr>
              <a:spcAft>
                <a:spcPts val="1400"/>
              </a:spcAft>
              <a:defRPr sz="2000"/>
            </a:pPr>
            <a:r>
              <a:t>Customer Advocate: draft-only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90-day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0–30 days: interviews, design partners, domain model, synthetic evaluation dataset.</a:t>
            </a:r>
          </a:p>
          <a:p>
            <a:pPr>
              <a:spcAft>
                <a:spcPts val="1400"/>
              </a:spcAft>
              <a:defRPr sz="2000"/>
            </a:pPr>
            <a:r>
              <a:t>31–60 days: integrations, extraction, entity resolution, temporal model, Ask Your World.</a:t>
            </a:r>
          </a:p>
          <a:p>
            <a:pPr>
              <a:spcAft>
                <a:spcPts val="1400"/>
              </a:spcAft>
              <a:defRPr sz="2000"/>
            </a:pPr>
            <a:r>
              <a:t>61–90 days: World Brief, commitment/decision intelligence, advocate drafts, trust controls.</a:t>
            </a:r>
          </a:p>
          <a:p>
            <a:pPr>
              <a:spcAft>
                <a:spcPts val="1400"/>
              </a:spcAft>
              <a:defRPr sz="2000"/>
            </a:pPr>
            <a:r>
              <a:t>Beta with 20–50 design partners; optimize usefulness and false-positive rate before expanding scope.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Initial customer: information-dense professionals and families already using AI.</a:t>
            </a:r>
          </a:p>
          <a:p>
            <a:pPr>
              <a:spcAft>
                <a:spcPts val="1400"/>
              </a:spcAft>
              <a:defRPr sz="2000"/>
            </a:pPr>
            <a:r>
              <a:t>Wedge: “What are you forgetting?” / “AI that understands your life.”</a:t>
            </a:r>
          </a:p>
          <a:p>
            <a:pPr>
              <a:spcAft>
                <a:spcPts val="1400"/>
              </a:spcAft>
              <a:defRPr sz="2000"/>
            </a:pPr>
            <a:r>
              <a:t>Founder-led design-partner acquisition; no paid acquisition initially.</a:t>
            </a:r>
          </a:p>
          <a:p>
            <a:pPr>
              <a:spcAft>
                <a:spcPts val="1400"/>
              </a:spcAft>
              <a:defRPr sz="2000"/>
            </a:pPr>
            <a:r>
              <a:t>Show concrete wins: deadlines caught, money recovered, hours saved, important memories surfaced.</a:t>
            </a:r>
          </a:p>
          <a:p>
            <a:pPr>
              <a:spcAft>
                <a:spcPts val="1400"/>
              </a:spcAft>
              <a:defRPr sz="2000"/>
            </a:pPr>
            <a:r>
              <a:t>Expand from one useful agent into a portfolio of agents over the same world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model +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Consumer subscription for the core world model and premium agents.</a:t>
            </a:r>
          </a:p>
          <a:p>
            <a:pPr>
              <a:spcAft>
                <a:spcPts val="1400"/>
              </a:spcAft>
              <a:defRPr sz="2000"/>
            </a:pPr>
            <a:r>
              <a:t>Potential future transaction/value-share layers for advocacy, insurance, warranties, services and commerce.</a:t>
            </a:r>
          </a:p>
          <a:p>
            <a:pPr>
              <a:spcAft>
                <a:spcPts val="1400"/>
              </a:spcAft>
              <a:defRPr sz="2000"/>
            </a:pPr>
            <a:r>
              <a:t>Long-term: third-party agents with scoped access to the Personal World Model.</a:t>
            </a:r>
          </a:p>
          <a:p>
            <a:pPr>
              <a:spcAft>
                <a:spcPts val="1400"/>
              </a:spcAft>
              <a:defRPr sz="2000"/>
            </a:pPr>
            <a:r>
              <a:t>Platform opportunity emerges after the core model reaches meaningful coverage and trust.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Today: “What should I do?”</a:t>
            </a:r>
          </a:p>
          <a:p>
            <a:pPr>
              <a:spcAft>
                <a:spcPts val="1400"/>
              </a:spcAft>
              <a:defRPr sz="2000"/>
            </a:pPr>
            <a:r>
              <a:t>Tomorrow: “What is happening in my world?”</a:t>
            </a:r>
          </a:p>
          <a:p>
            <a:pPr>
              <a:spcAft>
                <a:spcPts val="1400"/>
              </a:spcAft>
              <a:defRPr sz="2000"/>
            </a:pPr>
            <a:r>
              <a:t>A personal world model can become the context layer beneath many specialized agents.</a:t>
            </a:r>
          </a:p>
          <a:p>
            <a:pPr>
              <a:spcAft>
                <a:spcPts val="1400"/>
              </a:spcAft>
              <a:defRPr sz="2000"/>
            </a:pPr>
            <a:r>
              <a:t>The ambition: the operating system for an individual’s real-world life.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Design partners who will connect real workflows and give hard feedback.</a:t>
            </a:r>
          </a:p>
          <a:p>
            <a:pPr>
              <a:spcAft>
                <a:spcPts val="1400"/>
              </a:spcAft>
              <a:defRPr sz="2000"/>
            </a:pPr>
            <a:r>
              <a:t>Founding engineers / product thinkers who want to build the world-model substrate.</a:t>
            </a:r>
          </a:p>
          <a:p>
            <a:pPr>
              <a:spcAft>
                <a:spcPts val="1400"/>
              </a:spcAft>
              <a:defRPr sz="2000"/>
            </a:pPr>
            <a:r>
              <a:t>Early capital for product, infrastructure, security and user research.</a:t>
            </a:r>
          </a:p>
          <a:p>
            <a:pPr>
              <a:spcAft>
                <a:spcPts val="1400"/>
              </a:spcAft>
              <a:defRPr sz="1700"/>
            </a:pPr>
            <a:r>
              <a:t>The immediate objective is not to build everything—it is to prove that a persistent world model creates a qualitatively better personal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